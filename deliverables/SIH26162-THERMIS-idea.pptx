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b046d41e564e6a" /><Relationship Type="http://schemas.openxmlformats.org/officeDocument/2006/relationships/extended-properties" Target="/docProps/app.xml" Id="R7f45258981be4ada" /><Relationship Type="http://schemas.openxmlformats.org/officeDocument/2006/relationships/officeDocument" Target="/ppt/presentation.xml" Id="Rdafe783d188044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6829fb12e84dc8"/>
  </p:sldMasterIdLst>
  <p:notesMasterIdLst>
    <p:notesMasterId xmlns:r="http://schemas.openxmlformats.org/officeDocument/2006/relationships" r:id="Ref0cc73926894bfd"/>
  </p:notesMasterIdLst>
  <p:sldIdLst>
    <p:sldId xmlns:r="http://schemas.openxmlformats.org/officeDocument/2006/relationships" id="256" r:id="R1f3222d0c5794b32"/>
    <p:sldId xmlns:r="http://schemas.openxmlformats.org/officeDocument/2006/relationships" id="257" r:id="Ra48c095d2985455b"/>
    <p:sldId xmlns:r="http://schemas.openxmlformats.org/officeDocument/2006/relationships" id="258" r:id="Rc3eaf083e6c34c6f"/>
    <p:sldId xmlns:r="http://schemas.openxmlformats.org/officeDocument/2006/relationships" id="259" r:id="Rc10ab91072894184"/>
    <p:sldId xmlns:r="http://schemas.openxmlformats.org/officeDocument/2006/relationships" id="260" r:id="R391fabc2ee6f47a8"/>
    <p:sldId xmlns:r="http://schemas.openxmlformats.org/officeDocument/2006/relationships" id="261" r:id="Rfb57178f17f44c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327d0a66424f91" /><Relationship Type="http://schemas.openxmlformats.org/officeDocument/2006/relationships/slideMaster" Target="/ppt/slideMasters/slideMaster1.xml" Id="Rf06829fb12e84dc8" /><Relationship Type="http://schemas.openxmlformats.org/officeDocument/2006/relationships/notesMaster" Target="/ppt/notesMasters/notesMaster1.xml" Id="Ref0cc73926894bfd" /><Relationship Type="http://schemas.openxmlformats.org/officeDocument/2006/relationships/presProps" Target="/ppt/presProps.xml" Id="R5d64ce69cef44d37" /><Relationship Type="http://schemas.openxmlformats.org/officeDocument/2006/relationships/viewProps" Target="/ppt/viewProps.xml" Id="Rc889789603904049" /><Relationship Type="http://schemas.openxmlformats.org/officeDocument/2006/relationships/tableStyles" Target="/ppt/tableStyles.xml" Id="R8ce75d4e21714cd4" /><Relationship Type="http://schemas.openxmlformats.org/officeDocument/2006/relationships/slide" Target="/ppt/slides/slide1.xml" Id="R1f3222d0c5794b32" /><Relationship Type="http://schemas.openxmlformats.org/officeDocument/2006/relationships/slide" Target="/ppt/slides/slide2.xml" Id="Ra48c095d2985455b" /><Relationship Type="http://schemas.openxmlformats.org/officeDocument/2006/relationships/slide" Target="/ppt/slides/slide3.xml" Id="Rc3eaf083e6c34c6f" /><Relationship Type="http://schemas.openxmlformats.org/officeDocument/2006/relationships/slide" Target="/ppt/slides/slide4.xml" Id="Rc10ab91072894184" /><Relationship Type="http://schemas.openxmlformats.org/officeDocument/2006/relationships/slide" Target="/ppt/slides/slide5.xml" Id="R391fabc2ee6f47a8" /><Relationship Type="http://schemas.openxmlformats.org/officeDocument/2006/relationships/slide" Target="/ppt/slides/slide6.xml" Id="Rfb57178f17f44c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6f8f5e05df43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9c5e1e092a4b6f" /><Relationship Type="http://schemas.openxmlformats.org/officeDocument/2006/relationships/notesMaster" Target="/ppt/notesMasters/notesMaster1.xml" Id="R0c78ca6372d04f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2264a7283a4f3c" /><Relationship Type="http://schemas.openxmlformats.org/officeDocument/2006/relationships/notesMaster" Target="/ppt/notesMasters/notesMaster1.xml" Id="R294dab92fc1e4e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e242618bd44359" /><Relationship Type="http://schemas.openxmlformats.org/officeDocument/2006/relationships/notesMaster" Target="/ppt/notesMasters/notesMaster1.xml" Id="Re933e45edca445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7c745c6eff4df2" /><Relationship Type="http://schemas.openxmlformats.org/officeDocument/2006/relationships/notesMaster" Target="/ppt/notesMasters/notesMaster1.xml" Id="R1909cdfc1b044e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a612bbdcea46dd" /><Relationship Type="http://schemas.openxmlformats.org/officeDocument/2006/relationships/notesMaster" Target="/ppt/notesMasters/notesMaster1.xml" Id="R51344368027f41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f998b31b394aed" /><Relationship Type="http://schemas.openxmlformats.org/officeDocument/2006/relationships/notesMaster" Target="/ppt/notesMasters/notesMaster1.xml" Id="R7d12788ce58144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supplied SIH26162 problem statement; NASA FIRMS API https://firms.modaps.eosdis.nasa.gov/api/area/; project build evidence in docs/research-training.md and docs/retraining-status.md.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NASA FIRMS API https://firms.modaps.eosdis.nasa.gov/api/area/; NASA Earthdata HLS access https://www.earthdata.nasa.gov/; Open-Meteo https://open-meteo.com/; OpenStreetMap https://www.openstreetmap.org/; project implementation and run reports in the SIH162 repository.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local run reports and manifests in the SIH162 repository; NASA FIRMS API limits and product descriptions https://firms.modaps.eosdis.nasa.gov/; NASA Earthdata https://www.earthdata.nasa.gov/.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supplied SIH26162 objective and expected deliverables; project model cards and run reports in the SIH162 repository. Use cases describe intended decision-support applications, not measured operational outcomes.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Reference links: https://firms.modaps.eosdis.nasa.gov/api/area/ ; https://www.earthdata.nasa.gov/ ; https://open-meteo.com/ ; https://www.openstreetmap.org/ ; https://github.com/rajeet-04/SIH162. Local evidence: docs/research-training.md, docs/retraining-status.md, notebooks/research-data-quality.ipynb and the model card artifacts.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9611b4cd74d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72a1760e243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7e75ea34046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b927ca53245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f26435c8a4a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662094737476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f19b78556404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adc37866ce403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e18a9c1f844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579a274454f5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d7aaac1b2a4f6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41B65BB-0551-436D-99C4-25BE6164289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D5D7338-87CB-4A66-9E8F-6096AA412C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67ABE8-B143-42ED-B81E-C502882367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AC906E-82E2-4A88-85B9-942493D315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3CF104-EBF5-4262-A8D6-EC1639388F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CB4CDA-CFE3-4213-8719-8DDA4F8530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1F500F4-59B9-44AC-9D9E-851DFADC73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0D3275-4778-4522-8E80-7AA3BA996D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32BF27-728C-4B7F-9FEC-9751A1550C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B9277A-D0C2-4B79-A7FF-CD5CC9E9E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87554A-6183-46BE-9B60-B7571F21D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DDDCD88-FE6A-4DD1-9796-1158269022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3FFD7A-11EB-4830-8650-2659EAF4A1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093266-861E-4D6F-B963-7EF41F997A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5EFC08-9719-4EE6-8DEC-E2B01FBA8B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D73FBE-7A18-4151-B6AA-3112676937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B21F70B-B193-4CA6-92A7-395F686C46F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9BCB5E1-997E-4CC9-8E9B-6F4DB3AD58D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A065B7-ECE0-4806-B901-E87D43F61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B5428E-96B2-4CF2-8EF0-9F5C59262C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8E10DF-8EA8-428B-9B62-57042269D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D52A42-C240-498B-96FC-D44A269C2F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145922-BD1E-4E26-A619-C7443D6861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76C2C6D-52B3-46C4-9CCF-DF9856E70FE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F8B86EC-4F79-4B5E-A5D2-5ECDE2F292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71BF1EE-83D6-4F0C-8B64-0FFE662FD47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AFA22A-C37F-411B-B13A-74ACD48896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D8B682-B5D9-4C32-9187-E7359B8CD9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DAFD6C-00D6-4800-8D81-B53B9A5378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614D85-AEFD-4064-A16A-AD05CCAB65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C35B1A-03FC-4F25-A534-F90CBA7F5A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D20E21-BA77-41C6-BD97-451AB801AC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FBA8BE-12AE-4BBD-AFD3-B0A9659C06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F398CD-5FD5-4457-811A-791751C392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01FDDD-2522-44AE-8FC9-61404D39B8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963B90-B634-4908-A7D6-CB660FF7A0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CD21F9-BF56-47D3-BA63-B0459CBEE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95F7C7-030B-4C49-A709-A06579AA647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3F0E3FB-B760-4394-9DA0-52018FE9A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219581-59D5-4B6D-8C3F-A41705AA8F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F5D090-2DC3-4087-9A87-F149E893D6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432264-247B-4B0D-8FE8-F91F07027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DEAEC9-A18B-414D-9369-4FD23653A6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9E78B35-DABD-4CEF-82A9-3A2EF01AB7A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4FBF280-E303-4CE9-9AED-E486D9035B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3D0A16D-9FFE-4694-B39F-20EDFA48CB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256470-80BE-4A81-BB4A-D681730ECE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C5C780-2AA8-4119-B2D5-6351A3318D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F5079E-66E6-4413-8037-F5C5CDE671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C954BE2-E40C-4627-923D-90ECF523F4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B5A76A6-F961-4C38-87B2-1DBDCC1EF2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C8F2BC-E38F-4481-9A43-3B5B893D15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A74AC2-6CE5-4978-AA53-2B74755019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63BCC2E-59B6-4CC5-99EE-B1A722547F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D9A8E1-4AF4-45AA-BB2C-3AFA56F768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9A4533-CB9C-416A-BD98-EFA8F5317A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C32966-EA9B-4986-BE58-DDCD267E11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AE1997D-80E0-4A06-823F-69FD8B74B8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1b3bbe26fd4550" /><Relationship Type="http://schemas.openxmlformats.org/officeDocument/2006/relationships/slideLayout" Target="/ppt/slideLayouts/slideLayout1.xml" Id="R96ce740a33ef4227" /><Relationship Type="http://schemas.openxmlformats.org/officeDocument/2006/relationships/slideLayout" Target="/ppt/slideLayouts/slideLayout2.xml" Id="Rb3e62de6701c4764" /><Relationship Type="http://schemas.openxmlformats.org/officeDocument/2006/relationships/slideLayout" Target="/ppt/slideLayouts/slideLayout3.xml" Id="Rf373445a40604b4c" /><Relationship Type="http://schemas.openxmlformats.org/officeDocument/2006/relationships/slideLayout" Target="/ppt/slideLayouts/slideLayout4.xml" Id="R7e97026fa5a84c43" /><Relationship Type="http://schemas.openxmlformats.org/officeDocument/2006/relationships/slideLayout" Target="/ppt/slideLayouts/slideLayout5.xml" Id="R7686301f499c4eb0" /><Relationship Type="http://schemas.openxmlformats.org/officeDocument/2006/relationships/slideLayout" Target="/ppt/slideLayouts/slideLayout6.xml" Id="R9ecb84e131214f12" /><Relationship Type="http://schemas.openxmlformats.org/officeDocument/2006/relationships/slideLayout" Target="/ppt/slideLayouts/slideLayout7.xml" Id="Rc051f02e8e0f4686" /><Relationship Type="http://schemas.openxmlformats.org/officeDocument/2006/relationships/slideLayout" Target="/ppt/slideLayouts/slideLayout8.xml" Id="R05ab972e5bed4a3c" /><Relationship Type="http://schemas.openxmlformats.org/officeDocument/2006/relationships/slideLayout" Target="/ppt/slideLayouts/slideLayout9.xml" Id="Rf3d66da3494d4042" /><Relationship Type="http://schemas.openxmlformats.org/officeDocument/2006/relationships/slideLayout" Target="/ppt/slideLayouts/slideLayout10.xml" Id="R20bbccdc780c4544" /><Relationship Type="http://schemas.openxmlformats.org/officeDocument/2006/relationships/slideLayout" Target="/ppt/slideLayouts/slideLayout11.xml" Id="R837d33aa4bb3443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B2B4969-890C-4FA0-8D75-F7308237B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A10A5B-E01C-4B49-B83C-FEDE7E4FA7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43B261-785D-47AA-9A08-FD929EF2FF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DBFD15-71E6-45D6-8DA7-145678E9F1E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D789FA-95A3-4904-BFA2-E8F82B3ABD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ce740a33ef4227"/>
    <p:sldLayoutId xmlns:r="http://schemas.openxmlformats.org/officeDocument/2006/relationships" id="2147483650" r:id="Rb3e62de6701c4764"/>
    <p:sldLayoutId xmlns:r="http://schemas.openxmlformats.org/officeDocument/2006/relationships" id="2147483651" r:id="Rf373445a40604b4c"/>
    <p:sldLayoutId xmlns:r="http://schemas.openxmlformats.org/officeDocument/2006/relationships" id="2147483652" r:id="R7e97026fa5a84c43"/>
    <p:sldLayoutId xmlns:r="http://schemas.openxmlformats.org/officeDocument/2006/relationships" id="2147483653" r:id="R7686301f499c4eb0"/>
    <p:sldLayoutId xmlns:r="http://schemas.openxmlformats.org/officeDocument/2006/relationships" id="2147483654" r:id="R9ecb84e131214f12"/>
    <p:sldLayoutId xmlns:r="http://schemas.openxmlformats.org/officeDocument/2006/relationships" id="2147483655" r:id="Rc051f02e8e0f4686"/>
    <p:sldLayoutId xmlns:r="http://schemas.openxmlformats.org/officeDocument/2006/relationships" id="2147483656" r:id="R05ab972e5bed4a3c"/>
    <p:sldLayoutId xmlns:r="http://schemas.openxmlformats.org/officeDocument/2006/relationships" id="2147483657" r:id="Rf3d66da3494d4042"/>
    <p:sldLayoutId xmlns:r="http://schemas.openxmlformats.org/officeDocument/2006/relationships" id="2147483658" r:id="R20bbccdc780c4544"/>
    <p:sldLayoutId xmlns:r="http://schemas.openxmlformats.org/officeDocument/2006/relationships" id="2147483659" r:id="R837d33aa4bb3443d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39979597a45f0" /><Relationship Type="http://schemas.openxmlformats.org/officeDocument/2006/relationships/image" Target="/ppt/media/image.png" Id="R9834d0a7495a4cbe" /><Relationship Type="http://schemas.openxmlformats.org/officeDocument/2006/relationships/image" Target="/ppt/media/image2.png" Id="Rcaa70e162a6a4841" /><Relationship Type="http://schemas.openxmlformats.org/officeDocument/2006/relationships/notesSlide" Target="/ppt/notesSlides/notesSlide1.xml" Id="R1d1b4da7aa2443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c044a285cd46be" /><Relationship Type="http://schemas.openxmlformats.org/officeDocument/2006/relationships/image" Target="/ppt/media/image2.png" Id="Rd731c1face6049bf" /><Relationship Type="http://schemas.openxmlformats.org/officeDocument/2006/relationships/notesSlide" Target="/ppt/notesSlides/notesSlide2.xml" Id="Rd3e032cbc04a4d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8b663ac62d455e" /><Relationship Type="http://schemas.openxmlformats.org/officeDocument/2006/relationships/image" Target="/ppt/media/image2.png" Id="Rf126110c2b634921" /><Relationship Type="http://schemas.openxmlformats.org/officeDocument/2006/relationships/notesSlide" Target="/ppt/notesSlides/notesSlide3.xml" Id="Rd56e5ffcb7a64d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1d69d3e7794506" /><Relationship Type="http://schemas.openxmlformats.org/officeDocument/2006/relationships/image" Target="/ppt/media/image2.png" Id="R884e510ec2144120" /><Relationship Type="http://schemas.openxmlformats.org/officeDocument/2006/relationships/notesSlide" Target="/ppt/notesSlides/notesSlide4.xml" Id="Ref7c240effbe45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73819d73574b92" /><Relationship Type="http://schemas.openxmlformats.org/officeDocument/2006/relationships/image" Target="/ppt/media/image2.png" Id="Re808897370074d68" /><Relationship Type="http://schemas.openxmlformats.org/officeDocument/2006/relationships/notesSlide" Target="/ppt/notesSlides/notesSlide5.xml" Id="R4a3e284d54ec47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faf85d83884751" /><Relationship Type="http://schemas.openxmlformats.org/officeDocument/2006/relationships/image" Target="/ppt/media/image2.png" Id="Rb13513f5daeb4ef2" /><Relationship Type="http://schemas.openxmlformats.org/officeDocument/2006/relationships/notesSlide" Target="/ppt/notesSlides/notesSlide6.xml" Id="R357cc95829b04d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3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34d0a7495a4cbe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219A23FF-01B5-4367-B47F-51650402A0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8A8A8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8A8A8A"/>
                </a:solidFill>
                <a:latin typeface="Times New Roman"/>
                <a:ea typeface="Times New Roman"/>
                <a:cs typeface="Times New Roman"/>
              </a:rPr>
              <a:t>THERMIS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D700A0E6-12F1-4BA8-9516-89BF93D49F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0549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205493"/>
                </a:solidFill>
                <a:latin typeface="Times New Roman"/>
                <a:ea typeface="Times New Roman"/>
                <a:cs typeface="Times New Roman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70e162a6a48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F2946A-9D6B-47ED-B505-B0F74E66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76450"/>
            <a:ext cx="5886450" cy="470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1000"/>
              </a:lnSpc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 Statement ID – SIH26162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 Statement Title – AI-Based Detection and Classification of Industrial Fires and Persistent Thermal Sources Using NASA FIRMS, OSM &amp; Satellite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Theme – Miscellaneous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PS Category – Software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ID – [ENTER PORTAL TEAM ID]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1000"/>
              </a:lnSpc>
              <a:buNone/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Name – THERMIS</a:t>
            </a:r>
          </a:p>
        </p:txBody>
      </p:sp>
    </p:spTree>
    <p:extLst>
      <p:ext uri="{BB962C8B-B14F-4D97-AF65-F5344CB8AC3E}">
        <p14:creationId xmlns:p14="http://schemas.microsoft.com/office/powerpoint/2010/main" val="4930235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EB628A0-8051-49E9-899D-57C30D1E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11E10689-5967-4125-AF4D-C76123EDDD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THERMIS: INDUSTRIAL THERMAL-SOURCE INTELLIGENCE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44BFB9C-976D-4394-8BCB-586D8FC161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FC56DE9-F759-4D03-9B82-65A7CD8E80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THERMIS</a:t>
            </a:r>
            <a:endParaRPr/>
          </a:p>
        </p:txBody>
      </p:sp>
      <p:pic>
        <p:nvPicPr>
          <p:cNvPr id="1538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1c1face6049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D9438365-CCB2-4E4A-97E2-925F0CC3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381125"/>
            <a:ext cx="5715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05493"/>
            </a:solidFill>
            <a:prstDash val="solid"/>
          </a:ln>
        </p:spPr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E89E55EA-B57F-4E94-ADA3-2DB25104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457325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54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5493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BD18FB56-9D67-492C-9951-A9111E9A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09750"/>
            <a:ext cx="54483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NASA FIRMS ingestion for historical and live thermal detections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Event grouping and strictly past-only persistence features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OSM facility context with weather and satellite evidence paths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ML triage score, evidence availability and uncertainty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BCC3123C-F32B-45C7-B5E3-23F3D1A2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638550"/>
            <a:ext cx="5715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5493"/>
            </a:solidFill>
            <a:prstDash val="solid"/>
          </a:ln>
        </p:spPr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0540BE07-CD41-4EDA-8AB8-B9A29A7B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1475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38"/>
                </a:solidFill>
                <a:latin typeface="Arial"/>
                <a:ea typeface="Arial"/>
                <a:cs typeface="Arial"/>
              </a:rPr>
              <a:t>What the MVP shows</a:t>
            </a:r>
          </a:p>
        </p:txBody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634C10FC-AF8C-4C87-9996-1E8794A5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67175"/>
            <a:ext cx="54483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Map overlay of detections and industrial context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Historical baseline plus live polling path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Review queue with source links and audit fields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Portable model, preprocessing, checkpoint and model card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F28A4DB7-2012-4A3B-B0A5-0D5E971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715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11430">
            <a:solidFill>
              <a:srgbClr val="F28C38"/>
            </a:solidFill>
            <a:prstDash val="solid"/>
          </a:ln>
        </p:spPr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D22B8FA4-FADC-4044-A9B2-DBCA03A4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57325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38"/>
                </a:solidFill>
                <a:latin typeface="Arial"/>
                <a:ea typeface="Arial"/>
                <a:cs typeface="Arial"/>
              </a:rPr>
              <a:t>Model output</a:t>
            </a:r>
          </a:p>
        </p:txBody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FE3F0CF9-4690-444C-972B-7B4D1C31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44830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Industrial fire candidate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Episodic thermal activity near industrial infrastructure, routed for confirmation.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Persistent industrial heat or flare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Recurring heat compatible with routine facility operation, separated from incident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Unknown remains visible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Vegetation, agricultural and conflicting cases stay in the review taxonomy until evidence supports a label.</a:t>
            </a:r>
          </a:p>
        </p:txBody>
      </p:sp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FC4CC87F-7A85-47C0-AB7A-8B4E92D5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715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5493"/>
            </a:solidFill>
            <a:prstDash val="solid"/>
          </a:ln>
        </p:spPr>
      </p: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E0896A43-810B-4DD7-94DD-297DE18D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5770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54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5493"/>
                </a:solidFill>
                <a:latin typeface="Arial"/>
                <a:ea typeface="Arial"/>
                <a:cs typeface="Arial"/>
              </a:rPr>
              <a:t>Human review closes the loop</a:t>
            </a:r>
          </a:p>
        </p:txBody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4FA5FCFB-DD14-4BE3-91D6-E4FE34EC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0125"/>
            <a:ext cx="54483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External review completed for the MVP workflow. Evidence, confidence and uncertainty remain visible so the platform supports decisions without hiding ambiguous satellite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9045826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D57E8E4-611D-406C-84DA-C103B2D90B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821CED-19B7-4A14-A3A6-22BC84B981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B87E3DA-06E7-4156-BDE1-3DA855AB1B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THERMIS</a:t>
            </a:r>
            <a:endParaRPr/>
          </a:p>
        </p:txBody>
      </p:sp>
      <p:pic>
        <p:nvPicPr>
          <p:cNvPr id="1744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6110c2b6349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48065A32-326A-402B-9EF7-A53D04AB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219200"/>
            <a:ext cx="79248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5493"/>
            </a:solidFill>
            <a:prstDash val="solid"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AA04AE99-A2B9-4CB6-B0C9-A0C76DF2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95400"/>
            <a:ext cx="769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38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EDB0E9E7-3FAB-4659-915F-BEDC7B7F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43075"/>
            <a:ext cx="76581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281D0572-2B82-41F1-9891-A473D70A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257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05493"/>
          </a:solidFill>
          <a:ln xmlns:a="http://schemas.openxmlformats.org/drawingml/2006/main" w="9525">
            <a:solidFill>
              <a:srgbClr val="205493"/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A59E80B7-88B9-4EAA-8A28-6973A896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Acquire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DB9601A2-0FA3-402A-B3E4-9399D286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FIRMS + Earthdata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D725FBDC-C542-4246-B0EE-5031C217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38"/>
          </a:solidFill>
          <a:ln xmlns:a="http://schemas.openxmlformats.org/drawingml/2006/main" w="9525">
            <a:solidFill>
              <a:srgbClr val="F28C38"/>
            </a:solidFill>
            <a:prstDash val="solid"/>
          </a:ln>
        </p:spPr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93589943-CA6E-4977-B1C1-AA223A39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95500"/>
            <a:ext cx="1257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9525">
            <a:solidFill>
              <a:srgbClr val="2E75B6"/>
            </a:solidFill>
            <a:prstDash val="solid"/>
          </a:ln>
        </p:spPr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2C1CED05-25F0-4089-8E49-221E6591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098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3D023D39-8259-4206-9133-E39B6002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52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Clean + group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3D5B86D0-6B75-4037-8086-C0FB9D86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38"/>
          </a:solidFill>
          <a:ln xmlns:a="http://schemas.openxmlformats.org/drawingml/2006/main" w="9525">
            <a:solidFill>
              <a:srgbClr val="F28C38"/>
            </a:solidFill>
            <a:prstDash val="solid"/>
          </a:ln>
        </p:spPr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306C31AF-D827-4648-88E5-6C7E4285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1257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F9C6E"/>
          </a:solidFill>
          <a:ln xmlns:a="http://schemas.openxmlformats.org/drawingml/2006/main" w="9525">
            <a:solidFill>
              <a:srgbClr val="3F9C6E"/>
            </a:solidFill>
            <a:prstDash val="solid"/>
          </a:ln>
        </p:spPr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B842E966-3291-4D05-A2E4-C390C028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Enrich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06995924-D29F-4E95-A407-0BAA2928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52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OSM + weather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20150E90-FD8F-4684-851E-7593A763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38"/>
          </a:solidFill>
          <a:ln xmlns:a="http://schemas.openxmlformats.org/drawingml/2006/main" w="9525">
            <a:solidFill>
              <a:srgbClr val="F28C38"/>
            </a:solidFill>
            <a:prstDash val="solid"/>
          </a:ln>
        </p:spPr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AA62C5A7-73B8-4BA6-90B2-DE0FDAF8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95500"/>
            <a:ext cx="1257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8064A2"/>
          </a:solidFill>
          <a:ln xmlns:a="http://schemas.openxmlformats.org/drawingml/2006/main" w="9525">
            <a:solidFill>
              <a:srgbClr val="8064A2"/>
            </a:solidFill>
            <a:prstDash val="solid"/>
          </a:ln>
        </p:spPr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8BDE6978-7BF0-456D-B5C3-1C0AD671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098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4ED6F8EB-E96E-489E-B94D-FC12D346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52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ML + uncertainty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A5ADA50D-75AA-409F-858F-C43E1A14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38"/>
          </a:solidFill>
          <a:ln xmlns:a="http://schemas.openxmlformats.org/drawingml/2006/main" w="9525">
            <a:solidFill>
              <a:srgbClr val="F28C38"/>
            </a:solidFill>
            <a:prstDash val="solid"/>
          </a:ln>
        </p:spPr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E0AC90ED-C21F-4915-9D12-E1E640D8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1257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9525">
            <a:solidFill>
              <a:srgbClr val="C55A11"/>
            </a:solidFill>
            <a:prstDash val="solid"/>
          </a:ln>
        </p:spPr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4267015E-134E-4EF0-B048-E1DA3D38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A47820B7-BE5D-4103-AFF3-36FA9681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27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Map + review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17A8DAFD-A6F6-4955-83E0-6E88B191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90% chronological development data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Newest 10% sealed for ranking</a:t>
            </a:r>
          </a:p>
          <a:p xmlns:a="http://schemas.openxmlformats.org/drawingml/2006/main">
            <a:pPr algn="ctr">
              <a:lnSpc>
                <a:spcPct val="103000"/>
              </a:lnSpc>
              <a:buNone/>
              <a:defRPr sz="14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GPU training uses streamed batches and checkpoints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DE4C1941-E0BC-465A-8F46-1BA26A89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Current production path: advisory classification for industrial-fire candidate and persistent industrial heat/flare. The anomaly model ranks unusual observations and does not create ground truth.</a:t>
            </a:r>
          </a:p>
        </p:txBody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C8DEC1E1-867D-404C-9849-2A57E951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19200"/>
            <a:ext cx="36004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05493"/>
            </a:solidFill>
            <a:prstDash val="solid"/>
          </a:ln>
        </p:spPr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F37EB718-276B-4DBA-8790-17E903DF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954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38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7ABBBECC-C055-4B33-A1C1-39935C3A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14500"/>
            <a:ext cx="33337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 • pandas • Parquet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CatBoost tabular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PyTorch temporal / anomaly research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CUDA mixed precision • 8 GB VRAM aware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FastAPI inference 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NASA FIRMS + Earthdata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OpenStreetMap + Open-Meteo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MapLibre geospatial dashboard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Versioned manifests and checkpoints</a:t>
            </a:r>
          </a:p>
        </p:txBody>
      </p:sp>
    </p:spTree>
    <p:extLst>
      <p:ext uri="{BB962C8B-B14F-4D97-AF65-F5344CB8AC3E}">
        <p14:creationId xmlns:p14="http://schemas.microsoft.com/office/powerpoint/2010/main" val="1561197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2BBCEFBD-5122-45A4-BAFD-2CF4F7558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B983B-62F5-43C1-9D6E-C2FDD9DE65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3D27740-2EF5-4610-862A-29ADD74A8E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THERMIS</a:t>
            </a:r>
            <a:endParaRPr/>
          </a:p>
        </p:txBody>
      </p:sp>
      <p:pic>
        <p:nvPicPr>
          <p:cNvPr id="1742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e510ec2144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FF91F747-498C-42E7-AB91-7CD8F901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219200"/>
            <a:ext cx="57340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05493"/>
            </a:solidFill>
            <a:prstDash val="solid"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615682C4-52FA-43DB-8A1C-6FE4ACA8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95400"/>
            <a:ext cx="550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38"/>
                </a:solidFill>
                <a:latin typeface="Arial"/>
                <a:ea typeface="Arial"/>
                <a:cs typeface="Arial"/>
              </a:rPr>
              <a:t>What is already working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4FDF8F32-2149-4D8A-888B-D385167D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47825"/>
            <a:ext cx="546735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1.99M VIIRS SNPP observations across the India-region bounding box for 2024–2025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Authenticated FIRMS acquisition with resumeable five-day archives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Protected NASA Earthdata access verified for historical HLS download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OSM context recovery and live service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CUDA training, checkpoint reload and CPU/GPU agreement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600-case review batch with six exclusive assignments and zero overlap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DEECC468-0FB5-4891-A0B8-1EF55403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19200"/>
            <a:ext cx="57721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11430">
            <a:solidFill>
              <a:srgbClr val="F28C38"/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FF885A56-89D4-4AAD-B1DB-60CCE174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95400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38"/>
                </a:solidFill>
                <a:latin typeface="Arial"/>
                <a:ea typeface="Arial"/>
                <a:cs typeface="Arial"/>
              </a:rPr>
              <a:t>Risks and controls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64D55439-6C49-42C0-89F8-29D9FCBC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47825"/>
            <a:ext cx="55054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Labels: keep weak rules separate from reviewed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Coverage: expose cloud, satellite and source availability gaps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Generalisation: test unseen sites and regions before promotion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Safety: keep advisory outputs and human approval in the loop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FB59C884-2A2C-4E24-8D4D-AC39540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577215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5493"/>
            </a:solidFill>
            <a:prstDash val="solid"/>
          </a:ln>
        </p:spPr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D7A654D0-5C8D-43A7-A287-A1A6ACC0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5325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54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5493"/>
                </a:solidFill>
                <a:latin typeface="Arial"/>
                <a:ea typeface="Arial"/>
                <a:cs typeface="Arial"/>
              </a:rPr>
              <a:t>Scale path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86F1D047-18F1-4B8C-8B4F-B032BB11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7750"/>
            <a:ext cx="5505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nationwide industrial inventories, historical weather joins, validated imagery patches and alert integrations. The data pipeline already preserves manifests, provenance, checkpoints and recoverable originals.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C49006C8-315B-4F85-A934-9BF0B026EF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DE2884-4B3B-4F45-A9B0-84D0F5F8C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DB84714-7E74-4454-A0EA-2A8D71EF41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THERMIS</a:t>
            </a:r>
            <a:endParaRPr/>
          </a:p>
        </p:txBody>
      </p:sp>
      <p:pic>
        <p:nvPicPr>
          <p:cNvPr id="1742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8897370074d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A1960A51-973D-44D6-8B6B-2C3571A1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219200"/>
            <a:ext cx="5715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05493"/>
            </a:solidFill>
            <a:prstDash val="solid"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0D9D8D4D-57D7-4CA7-93CF-AAA8899E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9540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38"/>
                </a:solidFill>
                <a:latin typeface="Arial"/>
                <a:ea typeface="Arial"/>
                <a:cs typeface="Arial"/>
              </a:rPr>
              <a:t>Who uses it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45950556-0B32-4E7B-9BCA-343132C4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47825"/>
            <a:ext cx="54483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NTRO and disaster-management teams: national thermal situational awareness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Industrial operators: surveillance around refineries, power plants, mines and LNG facilities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State agencies: early triage around critical infrastructure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Environment teams: persistent-source and burn monitoring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Analysts: evidence-backed review queue instead of manual map scanning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3277E870-9126-4EA8-8AE6-3AB9D21E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19200"/>
            <a:ext cx="5772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11430">
            <a:solidFill>
              <a:srgbClr val="F28C38"/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A3DD3B5B-CBCD-4166-B5CA-63DC84A8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295400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38"/>
                </a:solidFill>
                <a:latin typeface="Arial"/>
                <a:ea typeface="Arial"/>
                <a:cs typeface="Arial"/>
              </a:rPr>
              <a:t>What the ML model adds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CAC23C3E-6307-4D41-BE05-07465D39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47825"/>
            <a:ext cx="5505450" cy="248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Learns normal thermal behaviour from large historical FIRMS 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Ranks unusual observations for faster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Combines thermal history with facility and environmental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Exposes evidence availability, confidence and uncertainty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FCC1010D-27A6-492E-B000-04693A12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5772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5493"/>
            </a:solidFill>
            <a:prstDash val="solid"/>
          </a:ln>
        </p:spPr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5BDF007A-2E43-4A71-99CC-63E7744B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54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5493"/>
                </a:solidFill>
                <a:latin typeface="Arial"/>
                <a:ea typeface="Arial"/>
                <a:cs typeface="Arial"/>
              </a:rPr>
              <a:t>Operational value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0B4D2E23-6545-4B3B-A6C5-29B6D973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29175"/>
            <a:ext cx="55054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same evidence trail can support early warning, post-incident reconstruction, asset-level baselines, environmental monitoring and prioritised field verification. These are decision-support uses; the model does not certify an accident by itself.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17D253AD-6EE5-4C19-8AC3-ACE4CF9DA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9525A6-A978-41FA-9DCD-2BE98B812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2BB8686-F971-4F57-96C8-BF7BA4B74A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THERMIS</a:t>
            </a:r>
            <a:endParaRPr/>
          </a:p>
        </p:txBody>
      </p:sp>
      <p:pic>
        <p:nvPicPr>
          <p:cNvPr id="1742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513f5daeb4e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08DC6BCE-0C02-4467-AF66-1C620547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219200"/>
            <a:ext cx="56769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5493"/>
            </a:solidFill>
            <a:prstDash val="solid"/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56E00C5C-DFEA-41DD-A0A5-DEB15233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95400"/>
            <a:ext cx="544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38"/>
                </a:solidFill>
                <a:latin typeface="Arial"/>
                <a:ea typeface="Arial"/>
                <a:cs typeface="Arial"/>
              </a:rPr>
              <a:t>Research and data sources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73A8A26B-4E48-4872-A52B-BB49B787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47825"/>
            <a:ext cx="54102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SIH26162 problem statement, NTRO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NASA FIRMS active-fire API and VIIRS products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NASA Earthdata / HLS satellite access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OpenStreetMap industrial context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Open-Meteo weather enrichment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FlareSat archive investigation and integrity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◆ Project branch, manifests, model cards and notebooks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2CD8135A-ADB5-45E3-ADD3-39E94516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19200"/>
            <a:ext cx="58102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05493"/>
            </a:solidFill>
            <a:prstDash val="solid"/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44122D18-9043-4858-9484-1191CD66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95400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8C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8C38"/>
                </a:solidFill>
                <a:latin typeface="Arial"/>
                <a:ea typeface="Arial"/>
                <a:cs typeface="Arial"/>
              </a:rPr>
              <a:t>Build evidence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8B2C5108-0040-43D1-B531-0BE426EC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47825"/>
            <a:ext cx="5543550" cy="2676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1.99M historical observations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2024–2025 India-region archive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Time-ordered evaluation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Newest 10% held back from training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Portable artifacts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Weights, preprocessing, checkpoint and model card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External review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MVP workflow reviewed outside this deck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7147E229-7BF6-482E-B1A3-10F6EB96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5810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11430">
            <a:solidFill>
              <a:srgbClr val="F28C38"/>
            </a:solidFill>
            <a:prstDash val="solid"/>
          </a:ln>
        </p:spPr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F60B7EFB-D9B4-4404-973E-86880A1A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48200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549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5493"/>
                </a:solidFill>
                <a:latin typeface="Arial"/>
                <a:ea typeface="Arial"/>
                <a:cs typeface="Arial"/>
              </a:rPr>
              <a:t>Reference links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B6DA3F8D-C34E-45E0-9DFD-9F0531A2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00625"/>
            <a:ext cx="55435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89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FIRMS: firms.modaps.eosdis.nasa.gov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Earthdata: earthdata.nasa.gov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Open-Meteo: open-meteo.com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OSM: openstreetmap.org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Repository: github.com/rajeet-04/SIH162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2026-09-10T10:43:02.0110000Z</dcterms:created>
  <dcterms:modified xsi:type="dcterms:W3CDTF">2026-09-10T10:43:02.0110000Z</dcterms:modified>
</coreProperties>
</file>